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74" r:id="rId3"/>
    <p:sldId id="275" r:id="rId4"/>
    <p:sldId id="277" r:id="rId5"/>
    <p:sldId id="276" r:id="rId6"/>
    <p:sldId id="278" r:id="rId7"/>
    <p:sldId id="279" r:id="rId8"/>
    <p:sldId id="280" r:id="rId9"/>
    <p:sldId id="283" r:id="rId10"/>
    <p:sldId id="262" r:id="rId11"/>
    <p:sldId id="281" r:id="rId12"/>
    <p:sldId id="260" r:id="rId13"/>
    <p:sldId id="282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64"/>
    <p:restoredTop sz="94696"/>
  </p:normalViewPr>
  <p:slideViewPr>
    <p:cSldViewPr snapToGrid="0" snapToObjects="1">
      <p:cViewPr>
        <p:scale>
          <a:sx n="151" d="100"/>
          <a:sy n="151" d="100"/>
        </p:scale>
        <p:origin x="128" y="-1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5A8C5EDA-24B5-0741-ACB5-FD2963A79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9" y="568036"/>
            <a:ext cx="11229085" cy="2732526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0E13BC2-FE3D-D741-92C1-85468157E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3401841"/>
            <a:ext cx="11229084" cy="1239431"/>
          </a:xfrm>
        </p:spPr>
        <p:txBody>
          <a:bodyPr>
            <a:normAutofit/>
          </a:bodyPr>
          <a:lstStyle>
            <a:lvl1pPr marL="0" indent="0" algn="l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E0C547-4417-664E-BCC6-F3A268490154}"/>
              </a:ext>
            </a:extLst>
          </p:cNvPr>
          <p:cNvSpPr/>
          <p:nvPr userDrawn="1"/>
        </p:nvSpPr>
        <p:spPr>
          <a:xfrm>
            <a:off x="-1" y="5167744"/>
            <a:ext cx="12192001" cy="16902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7" descr="A picture containing text&#13;&#10;&#13;&#10;Description automatically generated">
            <a:extLst>
              <a:ext uri="{FF2B5EF4-FFF2-40B4-BE49-F238E27FC236}">
                <a16:creationId xmlns:a16="http://schemas.microsoft.com/office/drawing/2014/main" id="{9AE2C820-FB3F-9549-9E16-2462796CA9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5299" y="5619893"/>
            <a:ext cx="2871356" cy="7859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C55ADDC-EE74-C346-9B58-0A560E3D8490}"/>
              </a:ext>
            </a:extLst>
          </p:cNvPr>
          <p:cNvSpPr/>
          <p:nvPr userDrawn="1"/>
        </p:nvSpPr>
        <p:spPr>
          <a:xfrm>
            <a:off x="-2" y="5093421"/>
            <a:ext cx="12192001" cy="1246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92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505BA2C-810F-7B4A-9DD8-3C2291891AA9}"/>
              </a:ext>
            </a:extLst>
          </p:cNvPr>
          <p:cNvSpPr/>
          <p:nvPr userDrawn="1"/>
        </p:nvSpPr>
        <p:spPr>
          <a:xfrm rot="16200000">
            <a:off x="3512127" y="-3512128"/>
            <a:ext cx="5167743" cy="1219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A6DD89-12F2-0D4E-BAA0-70D0A99AD50F}"/>
              </a:ext>
            </a:extLst>
          </p:cNvPr>
          <p:cNvSpPr/>
          <p:nvPr userDrawn="1"/>
        </p:nvSpPr>
        <p:spPr>
          <a:xfrm>
            <a:off x="-2" y="5093421"/>
            <a:ext cx="12192001" cy="1246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close up of a sign&#13;&#10;&#13;&#10;Description automatically generated">
            <a:extLst>
              <a:ext uri="{FF2B5EF4-FFF2-40B4-BE49-F238E27FC236}">
                <a16:creationId xmlns:a16="http://schemas.microsoft.com/office/drawing/2014/main" id="{FAB6281A-0A61-6947-8A04-A183FC9489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3734" y="5619893"/>
            <a:ext cx="2872921" cy="786384"/>
          </a:xfrm>
          <a:prstGeom prst="rect">
            <a:avLst/>
          </a:prstGeom>
        </p:spPr>
      </p:pic>
      <p:sp>
        <p:nvSpPr>
          <p:cNvPr id="13" name="Title 5">
            <a:extLst>
              <a:ext uri="{FF2B5EF4-FFF2-40B4-BE49-F238E27FC236}">
                <a16:creationId xmlns:a16="http://schemas.microsoft.com/office/drawing/2014/main" id="{B972F740-C034-4942-9F67-1C3D8FC51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9" y="568036"/>
            <a:ext cx="11229085" cy="2732526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DA69BE4-FC62-A64B-B8FA-EDCF7B6D8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3401841"/>
            <a:ext cx="11229084" cy="1239431"/>
          </a:xfrm>
        </p:spPr>
        <p:txBody>
          <a:bodyPr>
            <a:normAutofit/>
          </a:bodyPr>
          <a:lstStyle>
            <a:lvl1pPr marL="0" indent="0" algn="l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0871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05424" y="2646947"/>
            <a:ext cx="6224308" cy="1576136"/>
          </a:xfrm>
        </p:spPr>
        <p:txBody>
          <a:bodyPr anchor="ctr">
            <a:noAutofit/>
          </a:bodyPr>
          <a:lstStyle>
            <a:lvl1pPr algn="l" font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E361B-DFCA-824D-BA63-ADCED3B41986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25A1399-DD49-8D48-B7FE-F0FE60A60662}"/>
              </a:ext>
            </a:extLst>
          </p:cNvPr>
          <p:cNvGrpSpPr/>
          <p:nvPr userDrawn="1"/>
        </p:nvGrpSpPr>
        <p:grpSpPr>
          <a:xfrm>
            <a:off x="2402304" y="2628900"/>
            <a:ext cx="1600200" cy="1600200"/>
            <a:chOff x="2402304" y="2628900"/>
            <a:chExt cx="1600200" cy="1600200"/>
          </a:xfrm>
        </p:grpSpPr>
        <p:sp>
          <p:nvSpPr>
            <p:cNvPr id="10" name="Rectangle 9"/>
            <p:cNvSpPr/>
            <p:nvPr userDrawn="1"/>
          </p:nvSpPr>
          <p:spPr>
            <a:xfrm>
              <a:off x="2402304" y="2628900"/>
              <a:ext cx="1600200" cy="1600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2392" y="2971800"/>
              <a:ext cx="736016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25392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5840" y="1277895"/>
            <a:ext cx="10180320" cy="2419576"/>
          </a:xfrm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1005840" y="3809746"/>
            <a:ext cx="10180320" cy="141736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4845914-BC34-FA44-811C-F1F1BF3CAA6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01640" y="0"/>
            <a:ext cx="1188720" cy="1188720"/>
            <a:chOff x="2402304" y="2628900"/>
            <a:chExt cx="1600200" cy="16002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E3B6D6-898E-B748-9D5A-DD2E27700F55}"/>
                </a:ext>
              </a:extLst>
            </p:cNvPr>
            <p:cNvSpPr/>
            <p:nvPr userDrawn="1"/>
          </p:nvSpPr>
          <p:spPr>
            <a:xfrm>
              <a:off x="2402304" y="2628900"/>
              <a:ext cx="1600200" cy="1600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D72EE75-7C07-044E-A927-2281187E59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5627" y="3004800"/>
              <a:ext cx="693553" cy="8616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31028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5840" y="1277895"/>
            <a:ext cx="10180320" cy="2419576"/>
          </a:xfrm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1005840" y="3809746"/>
            <a:ext cx="10180320" cy="141736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4845914-BC34-FA44-811C-F1F1BF3CAA6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01640" y="0"/>
            <a:ext cx="1188720" cy="1188720"/>
            <a:chOff x="2402304" y="2628900"/>
            <a:chExt cx="1600200" cy="16002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E3B6D6-898E-B748-9D5A-DD2E27700F55}"/>
                </a:ext>
              </a:extLst>
            </p:cNvPr>
            <p:cNvSpPr/>
            <p:nvPr userDrawn="1"/>
          </p:nvSpPr>
          <p:spPr>
            <a:xfrm>
              <a:off x="2402304" y="2628900"/>
              <a:ext cx="1600200" cy="1600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D72EE75-7C07-044E-A927-2281187E59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5627" y="3004800"/>
              <a:ext cx="693553" cy="8616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51535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7624118" y="0"/>
            <a:ext cx="4567881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-412" y="1"/>
            <a:ext cx="7624118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6E361B-DFCA-824D-BA63-ADCED3B4198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95300" y="1759602"/>
            <a:ext cx="5097780" cy="242316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95300" y="4284041"/>
            <a:ext cx="5097780" cy="1239430"/>
          </a:xfrm>
        </p:spPr>
        <p:txBody>
          <a:bodyPr>
            <a:normAutofit/>
          </a:bodyPr>
          <a:lstStyle>
            <a:lvl1pPr marL="0" indent="0" algn="l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104CAD7-3D7E-2543-99A7-EDACD7B88AF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5300" y="0"/>
            <a:ext cx="1188720" cy="1188720"/>
            <a:chOff x="2402304" y="2628900"/>
            <a:chExt cx="1600200" cy="16002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49E6D82-EE91-8F41-9CA5-57190EE1100F}"/>
                </a:ext>
              </a:extLst>
            </p:cNvPr>
            <p:cNvSpPr/>
            <p:nvPr userDrawn="1"/>
          </p:nvSpPr>
          <p:spPr>
            <a:xfrm>
              <a:off x="2402304" y="2628900"/>
              <a:ext cx="1600200" cy="1600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0C58ACE-819D-AF4F-A538-5789EEE8C2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5627" y="3004800"/>
              <a:ext cx="693553" cy="8616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99654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6E361B-DFCA-824D-BA63-ADCED3B4198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502919" y="1714575"/>
            <a:ext cx="5341827" cy="38992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</a:t>
            </a:r>
            <a:r>
              <a:rPr lang="en-US" dirty="0" err="1"/>
              <a:t>levelv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1462" y="686572"/>
            <a:ext cx="441608" cy="548640"/>
          </a:xfrm>
          <a:prstGeom prst="rect">
            <a:avLst/>
          </a:prstGeom>
        </p:spPr>
      </p:pic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B524402D-B165-B142-8D8A-44B028C6B29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10271" y="1714500"/>
            <a:ext cx="5341827" cy="3921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</a:t>
            </a:r>
            <a:r>
              <a:rPr lang="en-US" dirty="0" err="1"/>
              <a:t>levelv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3BE342-3836-3341-81C8-862F68AC2129}"/>
              </a:ext>
            </a:extLst>
          </p:cNvPr>
          <p:cNvSpPr/>
          <p:nvPr userDrawn="1"/>
        </p:nvSpPr>
        <p:spPr>
          <a:xfrm>
            <a:off x="0" y="0"/>
            <a:ext cx="11003280" cy="1188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3831B93-8F7A-0146-B29B-2866B87DE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8C7FE5F-8FE1-524D-8B1D-EA240D3FFF2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003280" y="0"/>
            <a:ext cx="1188720" cy="1188720"/>
            <a:chOff x="2402304" y="2628900"/>
            <a:chExt cx="1600200" cy="16002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59CFD57-94EB-0742-A60F-A5D3F89ADDC2}"/>
                </a:ext>
              </a:extLst>
            </p:cNvPr>
            <p:cNvSpPr/>
            <p:nvPr userDrawn="1"/>
          </p:nvSpPr>
          <p:spPr>
            <a:xfrm>
              <a:off x="2402304" y="2628900"/>
              <a:ext cx="1600200" cy="1600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93F1A31-F1B7-324E-A1C2-C67B713A2EA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5627" y="3004800"/>
              <a:ext cx="693553" cy="861646"/>
            </a:xfrm>
            <a:prstGeom prst="rect">
              <a:avLst/>
            </a:prstGeom>
          </p:spPr>
        </p:pic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868332-B306-E041-98D3-1D604BD40F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497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146ABCC-A007-8646-9C8E-4F96B5CF566B}"/>
              </a:ext>
            </a:extLst>
          </p:cNvPr>
          <p:cNvSpPr/>
          <p:nvPr userDrawn="1"/>
        </p:nvSpPr>
        <p:spPr>
          <a:xfrm>
            <a:off x="0" y="0"/>
            <a:ext cx="11003280" cy="1188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6E361B-DFCA-824D-BA63-ADCED3B4198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502920" y="1714500"/>
            <a:ext cx="11186160" cy="392429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</a:t>
            </a:r>
            <a:r>
              <a:rPr lang="en-US" dirty="0" err="1"/>
              <a:t>levelv</a:t>
            </a:r>
            <a:endParaRPr lang="en-US" dirty="0"/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B269C8-6555-704C-87B8-FF6214A5A22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003280" y="0"/>
            <a:ext cx="1188720" cy="1188720"/>
            <a:chOff x="2402304" y="2628900"/>
            <a:chExt cx="1600200" cy="16002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16379FD-5881-8248-9DBA-1CB285BC2B85}"/>
                </a:ext>
              </a:extLst>
            </p:cNvPr>
            <p:cNvSpPr/>
            <p:nvPr userDrawn="1"/>
          </p:nvSpPr>
          <p:spPr>
            <a:xfrm>
              <a:off x="2402304" y="2628900"/>
              <a:ext cx="1600200" cy="1600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517F7B6-BB6C-0646-9A21-FFD4F04B0A0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5627" y="3004800"/>
              <a:ext cx="693553" cy="861646"/>
            </a:xfrm>
            <a:prstGeom prst="rect">
              <a:avLst/>
            </a:prstGeom>
          </p:spPr>
        </p:pic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8F6B42A-EE48-BE4A-B573-3F9B7A81661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767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C0CFA1E-F52C-7347-AF20-A0F900F9E9BD}"/>
              </a:ext>
            </a:extLst>
          </p:cNvPr>
          <p:cNvSpPr/>
          <p:nvPr userDrawn="1"/>
        </p:nvSpPr>
        <p:spPr>
          <a:xfrm>
            <a:off x="0" y="0"/>
            <a:ext cx="11003280" cy="1188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6E361B-DFCA-824D-BA63-ADCED3B4198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B82D859-C11F-6742-8CAA-C1FD136F7B1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003280" y="0"/>
            <a:ext cx="1188720" cy="1188720"/>
            <a:chOff x="2402304" y="2628900"/>
            <a:chExt cx="1600200" cy="16002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44F5DC4-F7BE-B843-A846-7A7A649D7D2B}"/>
                </a:ext>
              </a:extLst>
            </p:cNvPr>
            <p:cNvSpPr/>
            <p:nvPr userDrawn="1"/>
          </p:nvSpPr>
          <p:spPr>
            <a:xfrm>
              <a:off x="2402304" y="2628900"/>
              <a:ext cx="1600200" cy="1600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CFB429C-A4CD-8548-A953-15CC4E3591B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5627" y="3004800"/>
              <a:ext cx="693553" cy="861646"/>
            </a:xfrm>
            <a:prstGeom prst="rect">
              <a:avLst/>
            </a:prstGeom>
          </p:spPr>
        </p:pic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64F10-C715-9244-9AC6-2C9BD4B29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98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6E361B-DFCA-824D-BA63-ADCED3B4198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32004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Content Placeholder 6"/>
          <p:cNvSpPr>
            <a:spLocks noGrp="1"/>
          </p:cNvSpPr>
          <p:nvPr>
            <p:ph sz="quarter" idx="12"/>
          </p:nvPr>
        </p:nvSpPr>
        <p:spPr>
          <a:xfrm>
            <a:off x="3703320" y="1714500"/>
            <a:ext cx="7985760" cy="392429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</a:t>
            </a:r>
            <a:r>
              <a:rPr lang="en-US" dirty="0" err="1"/>
              <a:t>levelv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60ADF1-B8EF-7642-A4EF-70527152ABF5}"/>
              </a:ext>
            </a:extLst>
          </p:cNvPr>
          <p:cNvSpPr/>
          <p:nvPr userDrawn="1"/>
        </p:nvSpPr>
        <p:spPr>
          <a:xfrm>
            <a:off x="3200400" y="0"/>
            <a:ext cx="7802880" cy="1188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C0101-9281-C049-BAE7-9D060EEB9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3320" y="253701"/>
            <a:ext cx="6569212" cy="6204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AC66C60-4659-5A40-B026-87CD18E519D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003280" y="0"/>
            <a:ext cx="1188720" cy="1188720"/>
            <a:chOff x="2402304" y="2628900"/>
            <a:chExt cx="1600200" cy="16002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891D621-F91C-7D43-99F6-D1B09350066F}"/>
                </a:ext>
              </a:extLst>
            </p:cNvPr>
            <p:cNvSpPr/>
            <p:nvPr userDrawn="1"/>
          </p:nvSpPr>
          <p:spPr>
            <a:xfrm>
              <a:off x="2402304" y="2628900"/>
              <a:ext cx="1600200" cy="1600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7CA7B32-F52F-9544-B7DC-905FB7BE83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5627" y="3004800"/>
              <a:ext cx="693553" cy="8616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545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1F36B6A-1D1D-D641-84FD-F34EAE465D73}"/>
              </a:ext>
            </a:extLst>
          </p:cNvPr>
          <p:cNvSpPr/>
          <p:nvPr userDrawn="1"/>
        </p:nvSpPr>
        <p:spPr>
          <a:xfrm>
            <a:off x="0" y="0"/>
            <a:ext cx="8991600" cy="1188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8991600" y="0"/>
            <a:ext cx="32004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6E361B-DFCA-824D-BA63-ADCED3B4198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6"/>
          <p:cNvSpPr>
            <a:spLocks noGrp="1"/>
          </p:cNvSpPr>
          <p:nvPr>
            <p:ph sz="quarter" idx="12"/>
          </p:nvPr>
        </p:nvSpPr>
        <p:spPr>
          <a:xfrm>
            <a:off x="502920" y="1714500"/>
            <a:ext cx="7985760" cy="392429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</a:t>
            </a:r>
            <a:r>
              <a:rPr lang="en-US" dirty="0" err="1"/>
              <a:t>levelv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0D8BD74-E0FF-F744-8A12-2845F0468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53701"/>
            <a:ext cx="7985760" cy="6204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712AA60-D7BD-1B48-A5F0-3315A389CCB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892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6E361B-DFCA-824D-BA63-ADCED3B4198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2858A64F-42C3-6C49-A31F-68436957A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33437"/>
            <a:ext cx="5101735" cy="6204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582D1DF-8379-744D-A710-DB257FC77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" y="2199190"/>
            <a:ext cx="5101273" cy="41558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FCC09A-2D55-AA4A-8CED-9C2EA5A135C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003280" y="0"/>
            <a:ext cx="1188720" cy="1188720"/>
            <a:chOff x="2402304" y="2628900"/>
            <a:chExt cx="1600200" cy="1600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F6E5CCC-CC0A-024C-8BC9-490EA9FC1FB7}"/>
                </a:ext>
              </a:extLst>
            </p:cNvPr>
            <p:cNvSpPr/>
            <p:nvPr userDrawn="1"/>
          </p:nvSpPr>
          <p:spPr>
            <a:xfrm>
              <a:off x="2402304" y="2628900"/>
              <a:ext cx="1600200" cy="1600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B7F2877-1544-D74C-9566-1FADCC5345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5627" y="3004800"/>
              <a:ext cx="693553" cy="8616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9678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6E361B-DFCA-824D-BA63-ADCED3B4198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502920" y="633437"/>
            <a:ext cx="5101735" cy="6204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02919" y="2199190"/>
            <a:ext cx="5101273" cy="41558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C7876E7-1B38-0B44-B134-11D40D46B16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003280" y="0"/>
            <a:ext cx="1188720" cy="1188720"/>
            <a:chOff x="2402304" y="2628900"/>
            <a:chExt cx="1600200" cy="16002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EE05C40-1377-6045-98D3-1361801A2C02}"/>
                </a:ext>
              </a:extLst>
            </p:cNvPr>
            <p:cNvSpPr/>
            <p:nvPr userDrawn="1"/>
          </p:nvSpPr>
          <p:spPr>
            <a:xfrm>
              <a:off x="2402304" y="2628900"/>
              <a:ext cx="1600200" cy="1600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4FF116-3EAE-1D45-A4B8-F9E0F42606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5627" y="3004800"/>
              <a:ext cx="693553" cy="8616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91169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02920" y="633437"/>
            <a:ext cx="5101735" cy="6204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6107112" y="0"/>
            <a:ext cx="6084888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502919" y="2199190"/>
            <a:ext cx="5101273" cy="3405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4E4B8A-A926-D04F-9D00-C476C71125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6E361B-DFCA-824D-BA63-ADCED3B4198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392EC-5E54-D744-B2A1-08A31D5BA3F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3228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B88689F-8346-BF40-ABBC-76436AE05D5B}"/>
              </a:ext>
            </a:extLst>
          </p:cNvPr>
          <p:cNvSpPr/>
          <p:nvPr userDrawn="1"/>
        </p:nvSpPr>
        <p:spPr>
          <a:xfrm>
            <a:off x="8991600" y="0"/>
            <a:ext cx="32004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3DC3B044-024F-2148-BE1D-51CEDA7D8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33437"/>
            <a:ext cx="5101735" cy="6204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FA0DB62-CB0F-0444-A628-1AE6C0386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" y="2199191"/>
            <a:ext cx="5101273" cy="33947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55E4175-8B93-1F41-B741-C394B55E9A0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53E33840-E7FC-EB47-AB2E-1A9BAF36CD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504078"/>
            <a:ext cx="5593080" cy="585100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760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6E361B-DFCA-824D-BA63-ADCED3B4198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502920" y="3931920"/>
            <a:ext cx="11186160" cy="1706880"/>
          </a:xfrm>
        </p:spPr>
        <p:txBody>
          <a:bodyPr anchor="ctr">
            <a:noAutofit/>
          </a:bodyPr>
          <a:lstStyle>
            <a:lvl1pPr marL="0" indent="0" algn="ctr">
              <a:buNone/>
              <a:defRPr sz="3000"/>
            </a:lvl1pPr>
            <a:lvl2pPr marL="457200" indent="0" algn="ctr">
              <a:buNone/>
              <a:defRPr sz="3000"/>
            </a:lvl2pPr>
            <a:lvl3pPr marL="914400" indent="0" algn="ctr">
              <a:buNone/>
              <a:defRPr sz="3000"/>
            </a:lvl3pPr>
            <a:lvl4pPr marL="1371600" indent="0" algn="ctr">
              <a:buNone/>
              <a:defRPr sz="3000"/>
            </a:lvl4pPr>
            <a:lvl5pPr marL="1828800" indent="0" algn="ctr">
              <a:buNone/>
              <a:defRPr sz="3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FBF3631-0E76-AF4A-BDE9-B48BBD37631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8390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FE1A23-7010-4545-852D-5927AFED60BD}"/>
              </a:ext>
            </a:extLst>
          </p:cNvPr>
          <p:cNvSpPr/>
          <p:nvPr userDrawn="1"/>
        </p:nvSpPr>
        <p:spPr>
          <a:xfrm rot="16200000">
            <a:off x="4381500" y="-4381500"/>
            <a:ext cx="3429000" cy="1219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502920" y="504078"/>
            <a:ext cx="11186160" cy="585100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4679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963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73818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27EF04-7093-E84D-BADD-06ED74B1EFED}"/>
              </a:ext>
            </a:extLst>
          </p:cNvPr>
          <p:cNvSpPr/>
          <p:nvPr userDrawn="1"/>
        </p:nvSpPr>
        <p:spPr>
          <a:xfrm rot="16200000">
            <a:off x="2667000" y="-2667000"/>
            <a:ext cx="6858000" cy="1219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text&#13;&#10;&#13;&#10;Description automatically generated">
            <a:extLst>
              <a:ext uri="{FF2B5EF4-FFF2-40B4-BE49-F238E27FC236}">
                <a16:creationId xmlns:a16="http://schemas.microsoft.com/office/drawing/2014/main" id="{3066BC06-2DD0-3247-8458-F7AAE11580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0980" y="2888392"/>
            <a:ext cx="3950040" cy="108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4541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27EF04-7093-E84D-BADD-06ED74B1EFED}"/>
              </a:ext>
            </a:extLst>
          </p:cNvPr>
          <p:cNvSpPr/>
          <p:nvPr userDrawn="1"/>
        </p:nvSpPr>
        <p:spPr>
          <a:xfrm rot="16200000">
            <a:off x="2667000" y="-2667000"/>
            <a:ext cx="6858000" cy="121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text&#13;&#10;&#13;&#10;Description automatically generated">
            <a:extLst>
              <a:ext uri="{FF2B5EF4-FFF2-40B4-BE49-F238E27FC236}">
                <a16:creationId xmlns:a16="http://schemas.microsoft.com/office/drawing/2014/main" id="{3066BC06-2DD0-3247-8458-F7AAE11580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0980" y="2888392"/>
            <a:ext cx="3950040" cy="108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919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253701"/>
            <a:ext cx="9769612" cy="6204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1714500"/>
            <a:ext cx="11186160" cy="3897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81185" y="6115261"/>
            <a:ext cx="2743200" cy="2326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6D6E361B-DFCA-824D-BA63-ADCED3B4198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213DE1-AFF1-EC4C-A399-F187F8B96A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2920" y="6115261"/>
            <a:ext cx="5102352" cy="2326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753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7" r:id="rId2"/>
    <p:sldLayoutId id="2147483661" r:id="rId3"/>
    <p:sldLayoutId id="2147483684" r:id="rId4"/>
    <p:sldLayoutId id="2147483709" r:id="rId5"/>
    <p:sldLayoutId id="2147483687" r:id="rId6"/>
    <p:sldLayoutId id="2147483693" r:id="rId7"/>
    <p:sldLayoutId id="2147483702" r:id="rId8"/>
    <p:sldLayoutId id="2147483699" r:id="rId9"/>
    <p:sldLayoutId id="2147483694" r:id="rId10"/>
    <p:sldLayoutId id="2147483704" r:id="rId11"/>
    <p:sldLayoutId id="2147483691" r:id="rId12"/>
    <p:sldLayoutId id="2147483697" r:id="rId13"/>
    <p:sldLayoutId id="2147483690" r:id="rId14"/>
    <p:sldLayoutId id="2147483686" r:id="rId15"/>
    <p:sldLayoutId id="2147483703" r:id="rId16"/>
    <p:sldLayoutId id="2147483685" r:id="rId17"/>
    <p:sldLayoutId id="2147483700" r:id="rId18"/>
    <p:sldLayoutId id="2147483705" r:id="rId19"/>
    <p:sldLayoutId id="2147483706" r:id="rId20"/>
    <p:sldLayoutId id="2147483710" r:id="rId21"/>
  </p:sldLayoutIdLst>
  <p:txStyles>
    <p:titleStyle>
      <a:lvl1pPr algn="l" defTabSz="914400" rtl="0" eaLnBrk="1" fontAlgn="base" latinLnBrk="0" hangingPunct="1">
        <a:lnSpc>
          <a:spcPct val="90000"/>
        </a:lnSpc>
        <a:spcBef>
          <a:spcPct val="0"/>
        </a:spcBef>
        <a:buNone/>
        <a:defRPr sz="4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145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1717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80" userDrawn="1">
          <p15:clr>
            <a:srgbClr val="F26B43"/>
          </p15:clr>
        </p15:guide>
        <p15:guide id="2" pos="3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03C21-307A-A244-A366-623C12B1E7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05423" y="2646946"/>
            <a:ext cx="7083603" cy="1775967"/>
          </a:xfrm>
        </p:spPr>
        <p:txBody>
          <a:bodyPr/>
          <a:lstStyle/>
          <a:p>
            <a:r>
              <a:rPr lang="en-US" sz="4000" dirty="0"/>
              <a:t>Midway Project Presentation: Temporal Language Grounding for Visual Question Answering on CGM Data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E2AF9-4433-86EF-AC81-CF923B212896}"/>
              </a:ext>
            </a:extLst>
          </p:cNvPr>
          <p:cNvSpPr txBox="1">
            <a:spLocks/>
          </p:cNvSpPr>
          <p:nvPr/>
        </p:nvSpPr>
        <p:spPr>
          <a:xfrm>
            <a:off x="4505423" y="4422913"/>
            <a:ext cx="10180320" cy="1417368"/>
          </a:xfrm>
          <a:prstGeom prst="rect">
            <a:avLst/>
          </a:prstGeom>
        </p:spPr>
        <p:txBody>
          <a:bodyPr/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Andrea Tang</a:t>
            </a:r>
          </a:p>
        </p:txBody>
      </p:sp>
    </p:spTree>
    <p:extLst>
      <p:ext uri="{BB962C8B-B14F-4D97-AF65-F5344CB8AC3E}">
        <p14:creationId xmlns:p14="http://schemas.microsoft.com/office/powerpoint/2010/main" val="1902382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7A741-6F4A-D583-B459-6BDC87317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1B3026D-24D9-9A91-5D33-E09CF47833F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Continuous Glucose Monitoring </a:t>
            </a:r>
            <a:r>
              <a:rPr lang="en-US" dirty="0"/>
              <a:t>(CGM) generates large amounts of time-series data</a:t>
            </a:r>
          </a:p>
          <a:p>
            <a:r>
              <a:rPr lang="en-US" dirty="0"/>
              <a:t>CGM data are commonly interpreted through graphs</a:t>
            </a:r>
          </a:p>
          <a:p>
            <a:r>
              <a:rPr lang="en-US" dirty="0"/>
              <a:t>Current CGM systems mainly provide:</a:t>
            </a:r>
          </a:p>
          <a:p>
            <a:pPr lvl="1"/>
            <a:r>
              <a:rPr lang="en-US" dirty="0"/>
              <a:t>glucose value</a:t>
            </a:r>
          </a:p>
          <a:p>
            <a:pPr lvl="1"/>
            <a:r>
              <a:rPr lang="en-US" dirty="0"/>
              <a:t>simple alerts</a:t>
            </a:r>
          </a:p>
          <a:p>
            <a:r>
              <a:rPr lang="en-US" dirty="0"/>
              <a:t>But users often want to ask natural language questions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i="1" dirty="0"/>
              <a:t>Did glucose spike after dinner?</a:t>
            </a:r>
            <a:endParaRPr lang="en-US" dirty="0"/>
          </a:p>
          <a:p>
            <a:r>
              <a:rPr lang="en-US" i="1" dirty="0"/>
              <a:t>When did glucose decrease overnight?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7B8833-3E32-D7BC-4236-853986F71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Definition</a:t>
            </a:r>
          </a:p>
        </p:txBody>
      </p:sp>
      <p:pic>
        <p:nvPicPr>
          <p:cNvPr id="1028" name="Picture 4" descr="CGM for Weight Loss: A Data-Driven ...">
            <a:extLst>
              <a:ext uri="{FF2B5EF4-FFF2-40B4-BE49-F238E27FC236}">
                <a16:creationId xmlns:a16="http://schemas.microsoft.com/office/drawing/2014/main" id="{07886378-BF0C-F73F-2A5A-EAACEB1A3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1080" y="3974564"/>
            <a:ext cx="349250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2569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4B355-7C15-AE17-6D6A-11EC31703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00C50A4-2A01-2DE0-6436-36A75E977770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rcRect l="18200" r="4053" b="-2"/>
          <a:stretch>
            <a:fillRect/>
          </a:stretch>
        </p:blipFill>
        <p:spPr>
          <a:xfrm>
            <a:off x="6393356" y="1820826"/>
            <a:ext cx="5341827" cy="3899250"/>
          </a:xfrm>
          <a:prstGeom prst="rect">
            <a:avLst/>
          </a:prstGeom>
          <a:noFill/>
        </p:spPr>
      </p:pic>
      <p:pic>
        <p:nvPicPr>
          <p:cNvPr id="2050" name="Picture 2" descr="Figure 7. [A 14-day DEXCOM CGM overview...]. - Endotext - NCBI Bookshelf">
            <a:extLst>
              <a:ext uri="{FF2B5EF4-FFF2-40B4-BE49-F238E27FC236}">
                <a16:creationId xmlns:a16="http://schemas.microsoft.com/office/drawing/2014/main" id="{746D2FC0-70A8-249D-4EF5-65D3244DE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46" b="-3"/>
          <a:stretch>
            <a:fillRect/>
          </a:stretch>
        </p:blipFill>
        <p:spPr bwMode="auto">
          <a:xfrm>
            <a:off x="502920" y="1798299"/>
            <a:ext cx="5341827" cy="3921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FA132F-B90C-8704-7306-D8AFAA023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53701"/>
            <a:ext cx="9769612" cy="620404"/>
          </a:xfrm>
        </p:spPr>
        <p:txBody>
          <a:bodyPr anchor="ctr">
            <a:normAutofit/>
          </a:bodyPr>
          <a:lstStyle/>
          <a:p>
            <a:r>
              <a:rPr lang="en-US" sz="3600" dirty="0"/>
              <a:t>Example of CGM Graph</a:t>
            </a:r>
          </a:p>
        </p:txBody>
      </p:sp>
    </p:spTree>
    <p:extLst>
      <p:ext uri="{BB962C8B-B14F-4D97-AF65-F5344CB8AC3E}">
        <p14:creationId xmlns:p14="http://schemas.microsoft.com/office/powerpoint/2010/main" val="149976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AB765-2CB0-65C3-FF2C-46714CF7A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A1B260-EEA0-A217-FC19-A011CD201FD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Goal:</a:t>
            </a:r>
          </a:p>
          <a:p>
            <a:r>
              <a:rPr lang="en-US" dirty="0"/>
              <a:t>Evaluate whether vision-language models can:</a:t>
            </a:r>
          </a:p>
          <a:p>
            <a:r>
              <a:rPr lang="en-US" dirty="0"/>
              <a:t>Answer questions about CGM graphs</a:t>
            </a:r>
          </a:p>
          <a:p>
            <a:r>
              <a:rPr lang="en-US" dirty="0"/>
              <a:t>Ground temporal expressions to the correct time segment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5F67A1-3BFE-5391-680F-E8BC0765B4D4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Input:</a:t>
                </a:r>
              </a:p>
              <a:p>
                <a:r>
                  <a:rPr lang="en-US" dirty="0"/>
                  <a:t>CGM graph image</a:t>
                </a:r>
              </a:p>
              <a:p>
                <a:r>
                  <a:rPr lang="en-US" dirty="0"/>
                  <a:t>natural language question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Output: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A = answer (Yes / No)</a:t>
                </a:r>
              </a:p>
              <a:p>
                <a:r>
                  <a:rPr lang="en-US" dirty="0"/>
                  <a:t>S = temporal segment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𝑠𝑡𝑎𝑟𝑡</m:t>
                            </m:r>
                          </m:sub>
                        </m:s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𝑒𝑛𝑑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5F67A1-3BFE-5391-680F-E8BC0765B4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blipFill>
                <a:blip r:embed="rId2"/>
                <a:stretch>
                  <a:fillRect l="-2370" t="-45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DA1A8C62-89EA-02CF-72EC-CF3902BB0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</a:t>
            </a:r>
          </a:p>
        </p:txBody>
      </p:sp>
    </p:spTree>
    <p:extLst>
      <p:ext uri="{BB962C8B-B14F-4D97-AF65-F5344CB8AC3E}">
        <p14:creationId xmlns:p14="http://schemas.microsoft.com/office/powerpoint/2010/main" val="1996387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A25C8-8061-EFC5-C285-68D495584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1CB941-FFE3-299C-817B-9858B7F5D71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b="1" dirty="0"/>
              <a:t>CGM Data → CGM Graph Image → VLM → Answer + Temporal Segment</a:t>
            </a:r>
          </a:p>
          <a:p>
            <a:pPr marL="0" indent="0">
              <a:buNone/>
            </a:pPr>
            <a:r>
              <a:rPr lang="en-US" dirty="0"/>
              <a:t>Steps:</a:t>
            </a:r>
          </a:p>
          <a:p>
            <a:r>
              <a:rPr lang="en-US" dirty="0"/>
              <a:t>Build CGM graph dataset</a:t>
            </a:r>
          </a:p>
          <a:p>
            <a:r>
              <a:rPr lang="en-US" dirty="0"/>
              <a:t>Design question set (Yes/No + Temporal questions)</a:t>
            </a:r>
          </a:p>
          <a:p>
            <a:r>
              <a:rPr lang="en-US" dirty="0"/>
              <a:t>Annotate ground truth</a:t>
            </a:r>
          </a:p>
          <a:p>
            <a:r>
              <a:rPr lang="en-US" dirty="0"/>
              <a:t>Evaluate VLM predictions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Metrics:</a:t>
            </a:r>
          </a:p>
          <a:p>
            <a:r>
              <a:rPr lang="en-US" dirty="0"/>
              <a:t>Answer accuracy</a:t>
            </a:r>
          </a:p>
          <a:p>
            <a:r>
              <a:rPr lang="en-US" dirty="0"/>
              <a:t>Temporal grounding score (</a:t>
            </a:r>
            <a:r>
              <a:rPr lang="en-US" dirty="0" err="1"/>
              <a:t>IoU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FAEFA9-1307-9456-9158-1294ADF19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Approach</a:t>
            </a:r>
          </a:p>
        </p:txBody>
      </p:sp>
    </p:spTree>
    <p:extLst>
      <p:ext uri="{BB962C8B-B14F-4D97-AF65-F5344CB8AC3E}">
        <p14:creationId xmlns:p14="http://schemas.microsoft.com/office/powerpoint/2010/main" val="2129148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695B4-339A-A8A2-80BC-EA8683681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B2BE15-63ED-BCED-4CE5-C9E90F39181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7888" y="1922352"/>
            <a:ext cx="11186160" cy="39242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Dataset: </a:t>
            </a:r>
            <a:r>
              <a:rPr lang="en-US" dirty="0"/>
              <a:t>AZT1D</a:t>
            </a:r>
          </a:p>
          <a:p>
            <a:r>
              <a:rPr lang="en-US" altLang="zh-CN" dirty="0"/>
              <a:t>25</a:t>
            </a:r>
            <a:r>
              <a:rPr lang="zh-CN" altLang="en-US" dirty="0"/>
              <a:t> </a:t>
            </a:r>
            <a:r>
              <a:rPr lang="en-US" altLang="zh-CN" dirty="0"/>
              <a:t>T1D patients</a:t>
            </a:r>
          </a:p>
          <a:p>
            <a:r>
              <a:rPr lang="en-US" dirty="0"/>
              <a:t>26 days (24hrs) per subject</a:t>
            </a:r>
          </a:p>
          <a:p>
            <a:r>
              <a:rPr lang="en-US" dirty="0"/>
              <a:t>Metadata: insulin, food intake</a:t>
            </a:r>
          </a:p>
          <a:p>
            <a:r>
              <a:rPr lang="en-US" dirty="0"/>
              <a:t>Generate 25 CGM graphs randomly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Benchmark Annotation:</a:t>
            </a:r>
          </a:p>
          <a:p>
            <a:r>
              <a:rPr lang="en-US" dirty="0"/>
              <a:t>1 sample = 1 graph + 1 question  </a:t>
            </a:r>
            <a:r>
              <a:rPr lang="en-US" dirty="0">
                <a:sym typeface="Wingdings" pitchFamily="2" charset="2"/>
              </a:rPr>
              <a:t> 100 samples total</a:t>
            </a:r>
          </a:p>
          <a:p>
            <a:r>
              <a:rPr lang="en-US" dirty="0">
                <a:sym typeface="Wingdings" pitchFamily="2" charset="2"/>
              </a:rPr>
              <a:t>Each graph is paired with natural language questions:</a:t>
            </a:r>
          </a:p>
          <a:p>
            <a:pPr lvl="1"/>
            <a:r>
              <a:rPr lang="en-US" dirty="0"/>
              <a:t>2 yes/no questions</a:t>
            </a:r>
          </a:p>
          <a:p>
            <a:pPr lvl="1"/>
            <a:r>
              <a:rPr lang="en-US" dirty="0"/>
              <a:t>2 temporal grounding questions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2ABF5A-38EC-DC64-E0F5-EB7E2B482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&amp; Benchmark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6EE00F-430B-4F56-79AF-7C1D79E0B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557" y="1736808"/>
            <a:ext cx="6306322" cy="101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223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7E8EF-219E-5B5B-18B1-7801D5A52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FF5AEE-C607-9D3D-079F-15E4DF007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3170081"/>
            <a:ext cx="5341827" cy="988238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9D1FCD-50C3-1042-5F18-1FE4331E2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257" y="1714500"/>
            <a:ext cx="4613855" cy="3921777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564DA1-76AE-F3C5-1B02-4282EF351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53701"/>
            <a:ext cx="9769612" cy="620404"/>
          </a:xfrm>
        </p:spPr>
        <p:txBody>
          <a:bodyPr anchor="ctr">
            <a:normAutofit/>
          </a:bodyPr>
          <a:lstStyle/>
          <a:p>
            <a:r>
              <a:rPr lang="en-US" sz="3600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2630734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A0B56-12A4-E962-C1EB-6456CD77D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9517C3-5E23-F4BD-E1B3-468536182E3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235034" y="1714500"/>
            <a:ext cx="10454046" cy="39242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Vision-Language Models:</a:t>
            </a:r>
          </a:p>
          <a:p>
            <a:r>
              <a:rPr lang="en-US" dirty="0"/>
              <a:t>Qwen2-VL</a:t>
            </a:r>
          </a:p>
          <a:p>
            <a:r>
              <a:rPr lang="en-US" dirty="0" err="1"/>
              <a:t>LLaVA</a:t>
            </a:r>
            <a:endParaRPr lang="en-US" dirty="0"/>
          </a:p>
          <a:p>
            <a:r>
              <a:rPr lang="en-US" dirty="0"/>
              <a:t>DeepSeek-VL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Chart-based models:</a:t>
            </a:r>
          </a:p>
          <a:p>
            <a:r>
              <a:rPr lang="en-US" dirty="0" err="1"/>
              <a:t>PlotQA</a:t>
            </a:r>
            <a:r>
              <a:rPr lang="en-US" dirty="0"/>
              <a:t> models</a:t>
            </a:r>
          </a:p>
          <a:p>
            <a:r>
              <a:rPr lang="en-US" dirty="0" err="1"/>
              <a:t>ChartQA</a:t>
            </a:r>
            <a:r>
              <a:rPr lang="en-US" dirty="0"/>
              <a:t> models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C10E85-D3E0-2390-C5E1-02FA99D6E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</a:t>
            </a:r>
          </a:p>
        </p:txBody>
      </p:sp>
    </p:spTree>
    <p:extLst>
      <p:ext uri="{BB962C8B-B14F-4D97-AF65-F5344CB8AC3E}">
        <p14:creationId xmlns:p14="http://schemas.microsoft.com/office/powerpoint/2010/main" val="2646152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AF0C5-1210-84A2-6E9C-285929674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73C141-AF81-CF00-AD34-3FC779C14D0A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502920" y="1779450"/>
            <a:ext cx="6338555" cy="359184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B456BA3-1AFC-7E02-BF4B-140FFF4F0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67AE9E-25C4-02A7-B595-6574651A2E2D}"/>
              </a:ext>
            </a:extLst>
          </p:cNvPr>
          <p:cNvSpPr txBox="1"/>
          <p:nvPr/>
        </p:nvSpPr>
        <p:spPr>
          <a:xfrm>
            <a:off x="7006728" y="1225689"/>
            <a:ext cx="251888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[</a:t>
            </a:r>
          </a:p>
          <a:p>
            <a:r>
              <a:rPr lang="en-US" sz="1600" dirty="0"/>
              <a:t>  {</a:t>
            </a:r>
          </a:p>
          <a:p>
            <a:r>
              <a:rPr lang="en-US" sz="1600" dirty="0"/>
              <a:t>    "</a:t>
            </a:r>
            <a:r>
              <a:rPr lang="en-US" sz="1600" dirty="0" err="1"/>
              <a:t>sample_id</a:t>
            </a:r>
            <a:r>
              <a:rPr lang="en-US" sz="1600" dirty="0"/>
              <a:t>": "S01",</a:t>
            </a:r>
          </a:p>
          <a:p>
            <a:r>
              <a:rPr lang="en-US" sz="1600" dirty="0"/>
              <a:t>    "</a:t>
            </a:r>
            <a:r>
              <a:rPr lang="en-US" sz="1600" dirty="0" err="1"/>
              <a:t>graph_id</a:t>
            </a:r>
            <a:r>
              <a:rPr lang="en-US" sz="1600" dirty="0"/>
              <a:t>": "G01",</a:t>
            </a:r>
          </a:p>
          <a:p>
            <a:r>
              <a:rPr lang="en-US" sz="1600" dirty="0"/>
              <a:t>    "</a:t>
            </a:r>
            <a:r>
              <a:rPr lang="en-US" sz="1600" dirty="0" err="1"/>
              <a:t>question_id</a:t>
            </a:r>
            <a:r>
              <a:rPr lang="en-US" sz="1600" dirty="0"/>
              <a:t>": "Q07",</a:t>
            </a:r>
          </a:p>
          <a:p>
            <a:r>
              <a:rPr lang="en-US" sz="1600" dirty="0"/>
              <a:t>    "</a:t>
            </a:r>
            <a:r>
              <a:rPr lang="en-US" sz="1600" dirty="0" err="1"/>
              <a:t>task_type</a:t>
            </a:r>
            <a:r>
              <a:rPr lang="en-US" sz="1600" dirty="0"/>
              <a:t>": "</a:t>
            </a:r>
            <a:r>
              <a:rPr lang="en-US" sz="1600" dirty="0" err="1"/>
              <a:t>yes_no</a:t>
            </a:r>
            <a:r>
              <a:rPr lang="en-US" sz="1600" dirty="0"/>
              <a:t>",</a:t>
            </a:r>
          </a:p>
          <a:p>
            <a:r>
              <a:rPr lang="en-US" sz="1600" dirty="0"/>
              <a:t>    "answer": "yes",</a:t>
            </a:r>
          </a:p>
          <a:p>
            <a:r>
              <a:rPr lang="en-US" sz="1600" dirty="0"/>
              <a:t>    "</a:t>
            </a:r>
            <a:r>
              <a:rPr lang="en-US" sz="1600" dirty="0" err="1"/>
              <a:t>t_start</a:t>
            </a:r>
            <a:r>
              <a:rPr lang="en-US" sz="1600" dirty="0"/>
              <a:t>": null,</a:t>
            </a:r>
          </a:p>
          <a:p>
            <a:r>
              <a:rPr lang="en-US" sz="1600" dirty="0"/>
              <a:t>    "</a:t>
            </a:r>
            <a:r>
              <a:rPr lang="en-US" sz="1600" dirty="0" err="1"/>
              <a:t>t_end</a:t>
            </a:r>
            <a:r>
              <a:rPr lang="en-US" sz="1600" dirty="0"/>
              <a:t>": null</a:t>
            </a:r>
          </a:p>
          <a:p>
            <a:r>
              <a:rPr lang="en-US" sz="1600" dirty="0"/>
              <a:t>  },</a:t>
            </a:r>
          </a:p>
          <a:p>
            <a:r>
              <a:rPr lang="en-US" sz="1600" dirty="0"/>
              <a:t>  {</a:t>
            </a:r>
          </a:p>
          <a:p>
            <a:r>
              <a:rPr lang="en-US" sz="1600" dirty="0"/>
              <a:t>    "</a:t>
            </a:r>
            <a:r>
              <a:rPr lang="en-US" sz="1600" dirty="0" err="1"/>
              <a:t>sample_id</a:t>
            </a:r>
            <a:r>
              <a:rPr lang="en-US" sz="1600" dirty="0"/>
              <a:t>": "S02",</a:t>
            </a:r>
          </a:p>
          <a:p>
            <a:r>
              <a:rPr lang="en-US" sz="1600" dirty="0"/>
              <a:t>    "</a:t>
            </a:r>
            <a:r>
              <a:rPr lang="en-US" sz="1600" dirty="0" err="1"/>
              <a:t>graph_id</a:t>
            </a:r>
            <a:r>
              <a:rPr lang="en-US" sz="1600" dirty="0"/>
              <a:t>": "G01",</a:t>
            </a:r>
          </a:p>
          <a:p>
            <a:r>
              <a:rPr lang="en-US" sz="1600" dirty="0"/>
              <a:t>    "</a:t>
            </a:r>
            <a:r>
              <a:rPr lang="en-US" sz="1600" dirty="0" err="1"/>
              <a:t>question_id</a:t>
            </a:r>
            <a:r>
              <a:rPr lang="en-US" sz="1600" dirty="0"/>
              <a:t>": "Q14",</a:t>
            </a:r>
          </a:p>
          <a:p>
            <a:r>
              <a:rPr lang="en-US" sz="1600" dirty="0"/>
              <a:t>    "</a:t>
            </a:r>
            <a:r>
              <a:rPr lang="en-US" sz="1600" dirty="0" err="1"/>
              <a:t>task_type</a:t>
            </a:r>
            <a:r>
              <a:rPr lang="en-US" sz="1600" dirty="0"/>
              <a:t>": "</a:t>
            </a:r>
            <a:r>
              <a:rPr lang="en-US" sz="1600" dirty="0" err="1"/>
              <a:t>yes_no</a:t>
            </a:r>
            <a:r>
              <a:rPr lang="en-US" sz="1600" dirty="0"/>
              <a:t>",</a:t>
            </a:r>
          </a:p>
          <a:p>
            <a:r>
              <a:rPr lang="en-US" sz="1600" dirty="0"/>
              <a:t>    "answer": "yes",</a:t>
            </a:r>
          </a:p>
          <a:p>
            <a:r>
              <a:rPr lang="en-US" sz="1600" dirty="0"/>
              <a:t>    "</a:t>
            </a:r>
            <a:r>
              <a:rPr lang="en-US" sz="1600" dirty="0" err="1"/>
              <a:t>t_start</a:t>
            </a:r>
            <a:r>
              <a:rPr lang="en-US" sz="1600" dirty="0"/>
              <a:t>": null,</a:t>
            </a:r>
          </a:p>
          <a:p>
            <a:r>
              <a:rPr lang="en-US" sz="1600" dirty="0"/>
              <a:t>    "</a:t>
            </a:r>
            <a:r>
              <a:rPr lang="en-US" sz="1600" dirty="0" err="1"/>
              <a:t>t_end</a:t>
            </a:r>
            <a:r>
              <a:rPr lang="en-US" sz="1600" dirty="0"/>
              <a:t>": null</a:t>
            </a:r>
          </a:p>
          <a:p>
            <a:r>
              <a:rPr lang="en-US" sz="1600" dirty="0"/>
              <a:t>  },</a:t>
            </a:r>
          </a:p>
          <a:p>
            <a:r>
              <a:rPr lang="en-US" sz="1600" dirty="0"/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9E6710-A747-5BBD-09FA-F69157BC42C5}"/>
              </a:ext>
            </a:extLst>
          </p:cNvPr>
          <p:cNvSpPr txBox="1"/>
          <p:nvPr/>
        </p:nvSpPr>
        <p:spPr>
          <a:xfrm>
            <a:off x="9403129" y="1335857"/>
            <a:ext cx="2405915" cy="52014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{</a:t>
            </a:r>
          </a:p>
          <a:p>
            <a:r>
              <a:rPr lang="en-US" sz="1600" dirty="0"/>
              <a:t>    "</a:t>
            </a:r>
            <a:r>
              <a:rPr lang="en-US" sz="1600" dirty="0" err="1"/>
              <a:t>sample_id</a:t>
            </a:r>
            <a:r>
              <a:rPr lang="en-US" sz="1600" dirty="0"/>
              <a:t>": "S03",</a:t>
            </a:r>
          </a:p>
          <a:p>
            <a:r>
              <a:rPr lang="en-US" sz="1600" dirty="0"/>
              <a:t>    "</a:t>
            </a:r>
            <a:r>
              <a:rPr lang="en-US" sz="1600" dirty="0" err="1"/>
              <a:t>graph_id</a:t>
            </a:r>
            <a:r>
              <a:rPr lang="en-US" sz="1600" dirty="0"/>
              <a:t>": "G01",</a:t>
            </a:r>
          </a:p>
          <a:p>
            <a:r>
              <a:rPr lang="en-US" sz="1600" dirty="0"/>
              <a:t>    "</a:t>
            </a:r>
            <a:r>
              <a:rPr lang="en-US" sz="1600" dirty="0" err="1"/>
              <a:t>question_id</a:t>
            </a:r>
            <a:r>
              <a:rPr lang="en-US" sz="1600" dirty="0"/>
              <a:t>": "Q29",</a:t>
            </a:r>
          </a:p>
          <a:p>
            <a:r>
              <a:rPr lang="en-US" sz="1600" dirty="0"/>
              <a:t>    "</a:t>
            </a:r>
            <a:r>
              <a:rPr lang="en-US" sz="1600" dirty="0" err="1"/>
              <a:t>task_type</a:t>
            </a:r>
            <a:r>
              <a:rPr lang="en-US" sz="1600" dirty="0"/>
              <a:t>": "temporal",</a:t>
            </a:r>
          </a:p>
          <a:p>
            <a:r>
              <a:rPr lang="en-US" sz="1600" dirty="0"/>
              <a:t>    "answer": null,</a:t>
            </a:r>
          </a:p>
          <a:p>
            <a:r>
              <a:rPr lang="en-US" sz="1600" dirty="0"/>
              <a:t>    "</a:t>
            </a:r>
            <a:r>
              <a:rPr lang="en-US" sz="1600" dirty="0" err="1"/>
              <a:t>t_start</a:t>
            </a:r>
            <a:r>
              <a:rPr lang="en-US" sz="1600" dirty="0"/>
              <a:t>": "23:30",</a:t>
            </a:r>
          </a:p>
          <a:p>
            <a:r>
              <a:rPr lang="en-US" sz="1600" dirty="0"/>
              <a:t>    "</a:t>
            </a:r>
            <a:r>
              <a:rPr lang="en-US" sz="1600" dirty="0" err="1"/>
              <a:t>t_end</a:t>
            </a:r>
            <a:r>
              <a:rPr lang="en-US" sz="1600" dirty="0"/>
              <a:t>": "24:00"</a:t>
            </a:r>
          </a:p>
          <a:p>
            <a:r>
              <a:rPr lang="en-US" sz="1600" dirty="0"/>
              <a:t>  },</a:t>
            </a:r>
          </a:p>
          <a:p>
            <a:r>
              <a:rPr lang="en-US" sz="1600" dirty="0"/>
              <a:t>  {</a:t>
            </a:r>
          </a:p>
          <a:p>
            <a:r>
              <a:rPr lang="en-US" sz="1600" dirty="0"/>
              <a:t>    "</a:t>
            </a:r>
            <a:r>
              <a:rPr lang="en-US" sz="1600" dirty="0" err="1"/>
              <a:t>sample_id</a:t>
            </a:r>
            <a:r>
              <a:rPr lang="en-US" sz="1600" dirty="0"/>
              <a:t>": "S04",</a:t>
            </a:r>
          </a:p>
          <a:p>
            <a:r>
              <a:rPr lang="en-US" sz="1600" dirty="0"/>
              <a:t>    "</a:t>
            </a:r>
            <a:r>
              <a:rPr lang="en-US" sz="1600" dirty="0" err="1"/>
              <a:t>graph_id</a:t>
            </a:r>
            <a:r>
              <a:rPr lang="en-US" sz="1600" dirty="0"/>
              <a:t>": "G01",</a:t>
            </a:r>
          </a:p>
          <a:p>
            <a:r>
              <a:rPr lang="en-US" sz="1600" dirty="0"/>
              <a:t>    "</a:t>
            </a:r>
            <a:r>
              <a:rPr lang="en-US" sz="1600" dirty="0" err="1"/>
              <a:t>question_id</a:t>
            </a:r>
            <a:r>
              <a:rPr lang="en-US" sz="1600" dirty="0"/>
              <a:t>": "Q31",</a:t>
            </a:r>
          </a:p>
          <a:p>
            <a:r>
              <a:rPr lang="en-US" sz="1600" dirty="0"/>
              <a:t>    "</a:t>
            </a:r>
            <a:r>
              <a:rPr lang="en-US" sz="1600" dirty="0" err="1"/>
              <a:t>task_type</a:t>
            </a:r>
            <a:r>
              <a:rPr lang="en-US" sz="1600" dirty="0"/>
              <a:t>": "temporal",</a:t>
            </a:r>
          </a:p>
          <a:p>
            <a:r>
              <a:rPr lang="en-US" sz="1600" dirty="0"/>
              <a:t>    "answer": null,</a:t>
            </a:r>
          </a:p>
          <a:p>
            <a:r>
              <a:rPr lang="en-US" sz="1600" dirty="0"/>
              <a:t>    "</a:t>
            </a:r>
            <a:r>
              <a:rPr lang="en-US" sz="1600" dirty="0" err="1"/>
              <a:t>t_start</a:t>
            </a:r>
            <a:r>
              <a:rPr lang="en-US" sz="1600" dirty="0"/>
              <a:t>": "10:20",</a:t>
            </a:r>
          </a:p>
          <a:p>
            <a:r>
              <a:rPr lang="en-US" sz="1600" dirty="0"/>
              <a:t>    "</a:t>
            </a:r>
            <a:r>
              <a:rPr lang="en-US" sz="1600" dirty="0" err="1"/>
              <a:t>t_end</a:t>
            </a:r>
            <a:r>
              <a:rPr lang="en-US" sz="1600" dirty="0"/>
              <a:t>": "11:20"</a:t>
            </a:r>
          </a:p>
          <a:p>
            <a:r>
              <a:rPr lang="en-US" sz="1600" dirty="0"/>
              <a:t>  }</a:t>
            </a:r>
          </a:p>
          <a:p>
            <a:r>
              <a:rPr lang="en-US" sz="1600" dirty="0"/>
              <a:t>]</a:t>
            </a:r>
          </a:p>
          <a:p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BA2B65-8FB5-455E-0D60-939DD788036C}"/>
              </a:ext>
            </a:extLst>
          </p:cNvPr>
          <p:cNvSpPr txBox="1"/>
          <p:nvPr/>
        </p:nvSpPr>
        <p:spPr>
          <a:xfrm>
            <a:off x="502921" y="5632311"/>
            <a:ext cx="65038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Q</a:t>
            </a:r>
            <a:r>
              <a:rPr lang="en-US" altLang="zh-CN" sz="1400" b="1" dirty="0"/>
              <a:t>07:</a:t>
            </a:r>
            <a:r>
              <a:rPr lang="zh-CN" altLang="en-US" sz="1400" b="1" dirty="0"/>
              <a:t> </a:t>
            </a:r>
            <a:r>
              <a:rPr lang="en-US" sz="1400" b="1" dirty="0"/>
              <a:t>Was there a rapid glucose increase within one hour during the day?</a:t>
            </a:r>
          </a:p>
          <a:p>
            <a:r>
              <a:rPr lang="en-US" sz="1400" b="1" dirty="0"/>
              <a:t>Q</a:t>
            </a:r>
            <a:r>
              <a:rPr lang="en-US" altLang="zh-CN" sz="1400" b="1" dirty="0"/>
              <a:t>14:</a:t>
            </a:r>
            <a:r>
              <a:rPr lang="zh-CN" altLang="en-US" sz="1400" b="1" dirty="0"/>
              <a:t> </a:t>
            </a:r>
            <a:r>
              <a:rPr lang="en-US" sz="1400" b="1" dirty="0"/>
              <a:t>Was glucose more stable in the morning than in the evening?</a:t>
            </a:r>
          </a:p>
          <a:p>
            <a:r>
              <a:rPr lang="en-US" sz="1400" b="1" dirty="0"/>
              <a:t>Q29: Identify the period where glucose gradually decreased during the evening.</a:t>
            </a:r>
          </a:p>
          <a:p>
            <a:r>
              <a:rPr lang="en-US" sz="1400" b="1" dirty="0"/>
              <a:t>Q31: Identify the time interval where glucose rose after a meal event.</a:t>
            </a:r>
          </a:p>
        </p:txBody>
      </p:sp>
    </p:spTree>
    <p:extLst>
      <p:ext uri="{BB962C8B-B14F-4D97-AF65-F5344CB8AC3E}">
        <p14:creationId xmlns:p14="http://schemas.microsoft.com/office/powerpoint/2010/main" val="3798776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98AA6-88D1-7447-B9C7-715BE770C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53701"/>
            <a:ext cx="9769612" cy="620404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Model: </a:t>
            </a:r>
            <a:r>
              <a:rPr lang="en-US" dirty="0" err="1"/>
              <a:t>moondream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8C932C-BDC1-DB01-8425-2982029D1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1" y="1893945"/>
            <a:ext cx="6263745" cy="29768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6CDA26-2019-44A6-D8E2-C27BAAFBB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06" y="5546804"/>
            <a:ext cx="11163670" cy="10574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C2F8E7-4230-29CB-14DE-13AD70DB8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0158" y="1823859"/>
            <a:ext cx="6022919" cy="277319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CEFDFDC-BDCC-CD89-D72D-DDA56238EACB}"/>
              </a:ext>
            </a:extLst>
          </p:cNvPr>
          <p:cNvSpPr/>
          <p:nvPr/>
        </p:nvSpPr>
        <p:spPr>
          <a:xfrm>
            <a:off x="9641617" y="4597049"/>
            <a:ext cx="17711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dirty="0">
                <a:ln/>
                <a:solidFill>
                  <a:schemeClr val="accent4"/>
                </a:solidFill>
              </a:rPr>
              <a:t>flaky!</a:t>
            </a:r>
            <a:endParaRPr lang="en-US" sz="5400" b="1" cap="none" spc="0" dirty="0">
              <a:ln/>
              <a:solidFill>
                <a:schemeClr val="accent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12129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345D8-1251-7AA4-26B8-26D30246B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9ABAFD-40C2-17AA-48DB-FF960D710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811" y="1762002"/>
            <a:ext cx="8560378" cy="4258788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18081A-9BEF-D33D-4EDE-28CE5C4D1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53701"/>
            <a:ext cx="9769612" cy="620404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Model: </a:t>
            </a:r>
            <a:r>
              <a:rPr lang="en-US" dirty="0" err="1"/>
              <a:t>minicpm</a:t>
            </a:r>
            <a:r>
              <a:rPr lang="en-US" dirty="0"/>
              <a:t>-v</a:t>
            </a:r>
          </a:p>
        </p:txBody>
      </p:sp>
    </p:spTree>
    <p:extLst>
      <p:ext uri="{BB962C8B-B14F-4D97-AF65-F5344CB8AC3E}">
        <p14:creationId xmlns:p14="http://schemas.microsoft.com/office/powerpoint/2010/main" val="3183022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5D3344-6B05-F84F-8C16-F171EB67AB4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Completed:</a:t>
            </a:r>
          </a:p>
          <a:p>
            <a:r>
              <a:rPr lang="en-US" dirty="0"/>
              <a:t>Collected CGM graph dataset</a:t>
            </a:r>
          </a:p>
          <a:p>
            <a:r>
              <a:rPr lang="en-US" dirty="0"/>
              <a:t>Preprocessed graphs (cropping unnecessary regions)</a:t>
            </a:r>
          </a:p>
          <a:p>
            <a:r>
              <a:rPr lang="en-US" dirty="0"/>
              <a:t>Designed question categories</a:t>
            </a:r>
          </a:p>
          <a:p>
            <a:r>
              <a:rPr lang="en-US" dirty="0"/>
              <a:t>Built benchmark annotation structure</a:t>
            </a:r>
          </a:p>
          <a:p>
            <a:r>
              <a:rPr lang="en-US" dirty="0"/>
              <a:t>Created initial question set (40 questions)</a:t>
            </a:r>
          </a:p>
          <a:p>
            <a:r>
              <a:rPr lang="en-US" dirty="0"/>
              <a:t>Assigned questions to graphs</a:t>
            </a:r>
          </a:p>
          <a:p>
            <a:r>
              <a:rPr lang="en-US" dirty="0"/>
              <a:t>Started manual annotation</a:t>
            </a:r>
          </a:p>
          <a:p>
            <a:r>
              <a:rPr lang="en-US" dirty="0"/>
              <a:t>Tested several VLM models locally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900B9-3B8B-E242-9216-8747FD88792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300" dirty="0"/>
              <a:t>Next steps:</a:t>
            </a:r>
          </a:p>
          <a:p>
            <a:r>
              <a:rPr lang="en-US" sz="2300" dirty="0"/>
              <a:t>Complete manual annotations</a:t>
            </a:r>
          </a:p>
          <a:p>
            <a:r>
              <a:rPr lang="en-US" sz="2300" dirty="0"/>
              <a:t>Run experiments across multiple VLMs</a:t>
            </a:r>
          </a:p>
          <a:p>
            <a:r>
              <a:rPr lang="en-US" sz="2300" dirty="0"/>
              <a:t>Evaluate temporal grounding performance</a:t>
            </a:r>
          </a:p>
          <a:p>
            <a:r>
              <a:rPr lang="en-US" sz="2300" dirty="0"/>
              <a:t>Analyze failure cases</a:t>
            </a:r>
          </a:p>
          <a:p>
            <a:r>
              <a:rPr lang="en-US" sz="2300" dirty="0"/>
              <a:t>Write final report and analysis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701451-803A-7E4F-9654-ADD0C6C9E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So Far…</a:t>
            </a:r>
          </a:p>
        </p:txBody>
      </p:sp>
    </p:spTree>
    <p:extLst>
      <p:ext uri="{BB962C8B-B14F-4D97-AF65-F5344CB8AC3E}">
        <p14:creationId xmlns:p14="http://schemas.microsoft.com/office/powerpoint/2010/main" val="3795966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03E63-88E1-1F3E-0BC9-129D68F80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CA99F6-A874-D4ED-BAED-E7107C1FE8B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55022" y="1714500"/>
            <a:ext cx="10834057" cy="392429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Challenges:</a:t>
            </a:r>
          </a:p>
          <a:p>
            <a:r>
              <a:rPr lang="en-US" dirty="0"/>
              <a:t>Annotating temporal segments precisely</a:t>
            </a:r>
          </a:p>
          <a:p>
            <a:r>
              <a:rPr lang="en-US" dirty="0"/>
              <a:t>Limited number of CGM graphs</a:t>
            </a:r>
          </a:p>
          <a:p>
            <a:r>
              <a:rPr lang="en-US" dirty="0"/>
              <a:t>Some lightweight VLMs lack chart understanding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Adjustments:</a:t>
            </a:r>
          </a:p>
          <a:p>
            <a:r>
              <a:rPr lang="en-US" dirty="0"/>
              <a:t>Normalize temporal annotations to [0,1]</a:t>
            </a:r>
          </a:p>
          <a:p>
            <a:r>
              <a:rPr lang="en-US" dirty="0"/>
              <a:t>Simplify question categories</a:t>
            </a:r>
          </a:p>
          <a:p>
            <a:r>
              <a:rPr lang="en-US" dirty="0"/>
              <a:t>Focus on lightweight models for initial experiments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430403-08DB-5FFB-3E3B-3629CC95A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Adjustments/ Challenges</a:t>
            </a:r>
          </a:p>
        </p:txBody>
      </p:sp>
    </p:spTree>
    <p:extLst>
      <p:ext uri="{BB962C8B-B14F-4D97-AF65-F5344CB8AC3E}">
        <p14:creationId xmlns:p14="http://schemas.microsoft.com/office/powerpoint/2010/main" val="1004909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056107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UNC Expanded">
      <a:dk1>
        <a:srgbClr val="13284B"/>
      </a:dk1>
      <a:lt1>
        <a:srgbClr val="FFFFFF"/>
      </a:lt1>
      <a:dk2>
        <a:srgbClr val="000000"/>
      </a:dk2>
      <a:lt2>
        <a:srgbClr val="E1E1E1"/>
      </a:lt2>
      <a:accent1>
        <a:srgbClr val="4B9CD3"/>
      </a:accent1>
      <a:accent2>
        <a:srgbClr val="13294B"/>
      </a:accent2>
      <a:accent3>
        <a:srgbClr val="5958CA"/>
      </a:accent3>
      <a:accent4>
        <a:srgbClr val="E52820"/>
      </a:accent4>
      <a:accent5>
        <a:srgbClr val="FFD200"/>
      </a:accent5>
      <a:accent6>
        <a:srgbClr val="46A549"/>
      </a:accent6>
      <a:hlink>
        <a:srgbClr val="007FAE"/>
      </a:hlink>
      <a:folHlink>
        <a:srgbClr val="007FA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C_Template_A" id="{BE9E6F88-942C-0F45-AF9D-805013B7BB53}" vid="{C2CB95C8-2B18-EC47-9C7C-6BB9E380E93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768</TotalTime>
  <Words>678</Words>
  <Application>Microsoft Macintosh PowerPoint</Application>
  <PresentationFormat>Widescreen</PresentationFormat>
  <Paragraphs>131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Cambria Math</vt:lpstr>
      <vt:lpstr>Franklin Gothic Book</vt:lpstr>
      <vt:lpstr>Franklin Gothic Medium</vt:lpstr>
      <vt:lpstr>Wingdings</vt:lpstr>
      <vt:lpstr>Custom Design</vt:lpstr>
      <vt:lpstr>Midway Project Presentation: Temporal Language Grounding for Visual Question Answering on CGM Data </vt:lpstr>
      <vt:lpstr>Project Definition</vt:lpstr>
      <vt:lpstr>Example of CGM Graph</vt:lpstr>
      <vt:lpstr>Project Goal</vt:lpstr>
      <vt:lpstr>Proposed Approach</vt:lpstr>
      <vt:lpstr>Dataset &amp; Benchmark Design</vt:lpstr>
      <vt:lpstr>Examples</vt:lpstr>
      <vt:lpstr>Models</vt:lpstr>
      <vt:lpstr>Example</vt:lpstr>
      <vt:lpstr>Model: moondream</vt:lpstr>
      <vt:lpstr>Model: minicpm-v</vt:lpstr>
      <vt:lpstr>Progress So Far…</vt:lpstr>
      <vt:lpstr>Adjustments/ Challenges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Jacobs, Andrew</dc:creator>
  <cp:lastModifiedBy>Tang, Andrea</cp:lastModifiedBy>
  <cp:revision>58</cp:revision>
  <dcterms:created xsi:type="dcterms:W3CDTF">2018-12-12T18:27:48Z</dcterms:created>
  <dcterms:modified xsi:type="dcterms:W3CDTF">2026-03-12T16:47:20Z</dcterms:modified>
</cp:coreProperties>
</file>